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34"/>
    <p:sldId id="257" r:id="rId35"/>
    <p:sldId id="258" r:id="rId36"/>
    <p:sldId id="259" r:id="rId37"/>
    <p:sldId id="260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268" r:id="rId46"/>
    <p:sldId id="269" r:id="rId47"/>
    <p:sldId id="270" r:id="rId48"/>
    <p:sldId id="271" r:id="rId49"/>
    <p:sldId id="272" r:id="rId50"/>
    <p:sldId id="273" r:id="rId51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Canva Sans" charset="1" panose="020B0503030501040103"/>
      <p:regular r:id="rId10"/>
    </p:embeddedFont>
    <p:embeddedFont>
      <p:font typeface="Canva Sans Bold" charset="1" panose="020B0803030501040103"/>
      <p:regular r:id="rId11"/>
    </p:embeddedFont>
    <p:embeddedFont>
      <p:font typeface="Canva Sans Italics" charset="1" panose="020B0503030501040103"/>
      <p:regular r:id="rId12"/>
    </p:embeddedFont>
    <p:embeddedFont>
      <p:font typeface="Canva Sans Bold Italics" charset="1" panose="020B0803030501040103"/>
      <p:regular r:id="rId13"/>
    </p:embeddedFont>
    <p:embeddedFont>
      <p:font typeface="Canva Sans Medium" charset="1" panose="020B0603030501040103"/>
      <p:regular r:id="rId14"/>
    </p:embeddedFont>
    <p:embeddedFont>
      <p:font typeface="Canva Sans Medium Italics" charset="1" panose="020B0603030501040103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 Italics" charset="1" panose="00000500000000000000"/>
      <p:regular r:id="rId18"/>
    </p:embeddedFont>
    <p:embeddedFont>
      <p:font typeface="Poppins Bold Italics" charset="1" panose="00000800000000000000"/>
      <p:regular r:id="rId19"/>
    </p:embeddedFont>
    <p:embeddedFont>
      <p:font typeface="Poppins Thin" charset="1" panose="00000300000000000000"/>
      <p:regular r:id="rId20"/>
    </p:embeddedFont>
    <p:embeddedFont>
      <p:font typeface="Poppins Thin Italics" charset="1" panose="00000300000000000000"/>
      <p:regular r:id="rId21"/>
    </p:embeddedFont>
    <p:embeddedFont>
      <p:font typeface="Poppins Extra-Light" charset="1" panose="00000300000000000000"/>
      <p:regular r:id="rId22"/>
    </p:embeddedFont>
    <p:embeddedFont>
      <p:font typeface="Poppins Extra-Light Italics" charset="1" panose="00000300000000000000"/>
      <p:regular r:id="rId23"/>
    </p:embeddedFont>
    <p:embeddedFont>
      <p:font typeface="Poppins Light" charset="1" panose="00000400000000000000"/>
      <p:regular r:id="rId24"/>
    </p:embeddedFont>
    <p:embeddedFont>
      <p:font typeface="Poppins Light Italics" charset="1" panose="00000400000000000000"/>
      <p:regular r:id="rId25"/>
    </p:embeddedFont>
    <p:embeddedFont>
      <p:font typeface="Poppins Medium" charset="1" panose="00000600000000000000"/>
      <p:regular r:id="rId26"/>
    </p:embeddedFont>
    <p:embeddedFont>
      <p:font typeface="Poppins Medium Italics" charset="1" panose="00000600000000000000"/>
      <p:regular r:id="rId27"/>
    </p:embeddedFont>
    <p:embeddedFont>
      <p:font typeface="Poppins Semi-Bold" charset="1" panose="00000700000000000000"/>
      <p:regular r:id="rId28"/>
    </p:embeddedFont>
    <p:embeddedFont>
      <p:font typeface="Poppins Semi-Bold Italics" charset="1" panose="00000700000000000000"/>
      <p:regular r:id="rId29"/>
    </p:embeddedFont>
    <p:embeddedFont>
      <p:font typeface="Poppins Ultra-Bold" charset="1" panose="00000900000000000000"/>
      <p:regular r:id="rId30"/>
    </p:embeddedFont>
    <p:embeddedFont>
      <p:font typeface="Poppins Ultra-Bold Italics" charset="1" panose="00000900000000000000"/>
      <p:regular r:id="rId31"/>
    </p:embeddedFont>
    <p:embeddedFont>
      <p:font typeface="Poppins Heavy" charset="1" panose="00000A00000000000000"/>
      <p:regular r:id="rId32"/>
    </p:embeddedFont>
    <p:embeddedFont>
      <p:font typeface="Poppins Heavy Italics" charset="1" panose="00000A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slides/slide1.xml" Type="http://schemas.openxmlformats.org/officeDocument/2006/relationships/slide"/><Relationship Id="rId35" Target="slides/slide2.xml" Type="http://schemas.openxmlformats.org/officeDocument/2006/relationships/slide"/><Relationship Id="rId36" Target="slides/slide3.xml" Type="http://schemas.openxmlformats.org/officeDocument/2006/relationships/slide"/><Relationship Id="rId37" Target="slides/slide4.xml" Type="http://schemas.openxmlformats.org/officeDocument/2006/relationships/slide"/><Relationship Id="rId38" Target="slides/slide5.xml" Type="http://schemas.openxmlformats.org/officeDocument/2006/relationships/slide"/><Relationship Id="rId39" Target="slides/slide6.xml" Type="http://schemas.openxmlformats.org/officeDocument/2006/relationships/slide"/><Relationship Id="rId4" Target="theme/theme1.xml" Type="http://schemas.openxmlformats.org/officeDocument/2006/relationships/theme"/><Relationship Id="rId40" Target="slides/slide7.xml" Type="http://schemas.openxmlformats.org/officeDocument/2006/relationships/slide"/><Relationship Id="rId41" Target="slides/slide8.xml" Type="http://schemas.openxmlformats.org/officeDocument/2006/relationships/slide"/><Relationship Id="rId42" Target="slides/slide9.xml" Type="http://schemas.openxmlformats.org/officeDocument/2006/relationships/slide"/><Relationship Id="rId43" Target="slides/slide10.xml" Type="http://schemas.openxmlformats.org/officeDocument/2006/relationships/slide"/><Relationship Id="rId44" Target="slides/slide11.xml" Type="http://schemas.openxmlformats.org/officeDocument/2006/relationships/slide"/><Relationship Id="rId45" Target="slides/slide12.xml" Type="http://schemas.openxmlformats.org/officeDocument/2006/relationships/slide"/><Relationship Id="rId46" Target="slides/slide13.xml" Type="http://schemas.openxmlformats.org/officeDocument/2006/relationships/slide"/><Relationship Id="rId47" Target="slides/slide14.xml" Type="http://schemas.openxmlformats.org/officeDocument/2006/relationships/slide"/><Relationship Id="rId48" Target="slides/slide15.xml" Type="http://schemas.openxmlformats.org/officeDocument/2006/relationships/slide"/><Relationship Id="rId49" Target="slides/slide16.xml" Type="http://schemas.openxmlformats.org/officeDocument/2006/relationships/slide"/><Relationship Id="rId5" Target="tableStyles.xml" Type="http://schemas.openxmlformats.org/officeDocument/2006/relationships/tableStyles"/><Relationship Id="rId50" Target="slides/slide17.xml" Type="http://schemas.openxmlformats.org/officeDocument/2006/relationships/slide"/><Relationship Id="rId51" Target="slides/slide18.xml" Type="http://schemas.openxmlformats.org/officeDocument/2006/relationships/slide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14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19992" y="-1680508"/>
            <a:ext cx="13648016" cy="136480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40768" y="-164456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367381" y="-633119"/>
            <a:ext cx="11553237" cy="115532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6280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37613" y="4282161"/>
            <a:ext cx="1634041" cy="163404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2086248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1" y="0"/>
                </a:moveTo>
                <a:lnTo>
                  <a:pt x="0" y="0"/>
                </a:lnTo>
                <a:lnTo>
                  <a:pt x="0" y="503483"/>
                </a:lnTo>
                <a:lnTo>
                  <a:pt x="336771" y="503483"/>
                </a:lnTo>
                <a:lnTo>
                  <a:pt x="33677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191921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153255" y="4282161"/>
            <a:ext cx="1634041" cy="16340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801890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0" y="0"/>
                </a:moveTo>
                <a:lnTo>
                  <a:pt x="336770" y="0"/>
                </a:lnTo>
                <a:lnTo>
                  <a:pt x="336770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20383" y="2916803"/>
            <a:ext cx="1047234" cy="1431643"/>
          </a:xfrm>
          <a:custGeom>
            <a:avLst/>
            <a:gdLst/>
            <a:ahLst/>
            <a:cxnLst/>
            <a:rect r="r" b="b" t="t" l="l"/>
            <a:pathLst>
              <a:path h="1431643" w="1047234">
                <a:moveTo>
                  <a:pt x="0" y="0"/>
                </a:moveTo>
                <a:lnTo>
                  <a:pt x="1047234" y="0"/>
                </a:lnTo>
                <a:lnTo>
                  <a:pt x="1047234" y="1431643"/>
                </a:lnTo>
                <a:lnTo>
                  <a:pt x="0" y="1431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83" t="0" r="-228065" b="-618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127743" y="6127330"/>
            <a:ext cx="803251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1F2020"/>
                </a:solidFill>
                <a:latin typeface="Poppins"/>
              </a:rPr>
              <a:t>Redefining campus life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11039" y="4469757"/>
            <a:ext cx="4665923" cy="101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0"/>
              </a:lnSpc>
              <a:spcBef>
                <a:spcPct val="0"/>
              </a:spcBef>
            </a:pPr>
            <a:r>
              <a:rPr lang="en-US" sz="5586">
                <a:solidFill>
                  <a:srgbClr val="1F2020"/>
                </a:solidFill>
                <a:latin typeface="Poppins Bold"/>
              </a:rPr>
              <a:t>FLEX PAY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53200" y="923925"/>
            <a:ext cx="5403169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9"/>
              </a:lnSpc>
              <a:spcBef>
                <a:spcPct val="0"/>
              </a:spcBef>
            </a:pPr>
            <a:r>
              <a:rPr lang="en-US" sz="5100">
                <a:solidFill>
                  <a:srgbClr val="000000"/>
                </a:solidFill>
                <a:latin typeface="Canva Sans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0547" y="2719705"/>
            <a:ext cx="12715657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As the student intake in our college continues to increase annually, there arises a pressing need for a comprehensive student monitoring and control system. Additionally, the escalating proliferation of counterfeit ID cards necessitates urgent intervention. Therefore, we propose a solution aimed at establishing an effective monitoring system within the college premises, with the capability to permanently eliminate the presence of counterfeit ID cards.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62061" y="-1137300"/>
            <a:ext cx="13240663" cy="13240663"/>
            <a:chOff x="0" y="0"/>
            <a:chExt cx="17654217" cy="176542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654217" cy="17654217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486291" y="1548033"/>
              <a:ext cx="15167927" cy="15148967"/>
            </a:xfrm>
            <a:custGeom>
              <a:avLst/>
              <a:gdLst/>
              <a:ahLst/>
              <a:cxnLst/>
              <a:rect r="r" b="b" t="t" l="l"/>
              <a:pathLst>
                <a:path h="15148967" w="15167927">
                  <a:moveTo>
                    <a:pt x="0" y="0"/>
                  </a:moveTo>
                  <a:lnTo>
                    <a:pt x="15167926" y="0"/>
                  </a:lnTo>
                  <a:lnTo>
                    <a:pt x="15167926" y="15148967"/>
                  </a:lnTo>
                  <a:lnTo>
                    <a:pt x="0" y="1514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261139" y="1354837"/>
              <a:ext cx="14944543" cy="14944543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403968" y="3640060"/>
            <a:ext cx="5480606" cy="3006879"/>
            <a:chOff x="0" y="0"/>
            <a:chExt cx="1052050" cy="577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55833" y="4618663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30308" y="4574906"/>
            <a:ext cx="1078676" cy="107867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58674" y="4911385"/>
            <a:ext cx="689118" cy="405718"/>
          </a:xfrm>
          <a:custGeom>
            <a:avLst/>
            <a:gdLst/>
            <a:ahLst/>
            <a:cxnLst/>
            <a:rect r="r" b="b" t="t" l="l"/>
            <a:pathLst>
              <a:path h="405718" w="689118">
                <a:moveTo>
                  <a:pt x="0" y="0"/>
                </a:moveTo>
                <a:lnTo>
                  <a:pt x="689117" y="0"/>
                </a:lnTo>
                <a:lnTo>
                  <a:pt x="689117" y="405718"/>
                </a:lnTo>
                <a:lnTo>
                  <a:pt x="0" y="405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74063" y="4715510"/>
            <a:ext cx="307229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8F8F8"/>
                </a:solidFill>
                <a:latin typeface="Poppins Bold"/>
              </a:rPr>
              <a:t>BUS MANAGEMENT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23332" y="1950266"/>
            <a:ext cx="30831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Problems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78602" y="3842667"/>
            <a:ext cx="1060920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Manual Checking which consumes more time  </a:t>
            </a:r>
          </a:p>
          <a:p>
            <a:pPr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Students may make counterfeit Bus pass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62061" y="-1137300"/>
            <a:ext cx="13240663" cy="13240663"/>
            <a:chOff x="0" y="0"/>
            <a:chExt cx="17654217" cy="1765421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654217" cy="17654217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486291" y="1548033"/>
              <a:ext cx="15167927" cy="15148967"/>
            </a:xfrm>
            <a:custGeom>
              <a:avLst/>
              <a:gdLst/>
              <a:ahLst/>
              <a:cxnLst/>
              <a:rect r="r" b="b" t="t" l="l"/>
              <a:pathLst>
                <a:path h="15148967" w="15167927">
                  <a:moveTo>
                    <a:pt x="0" y="0"/>
                  </a:moveTo>
                  <a:lnTo>
                    <a:pt x="15167926" y="0"/>
                  </a:lnTo>
                  <a:lnTo>
                    <a:pt x="15167926" y="15148967"/>
                  </a:lnTo>
                  <a:lnTo>
                    <a:pt x="0" y="1514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261139" y="1354837"/>
              <a:ext cx="14944543" cy="14944543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10723332" y="1950266"/>
            <a:ext cx="30831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Problems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63220" y="4169583"/>
            <a:ext cx="1032458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Manual checking by security at the </a:t>
            </a: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        entrance    </a:t>
            </a:r>
          </a:p>
          <a:p>
            <a:pPr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Students may make counterfeit ID cards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8013" y="3640060"/>
            <a:ext cx="5480606" cy="3006879"/>
            <a:chOff x="0" y="0"/>
            <a:chExt cx="1052050" cy="5771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42024" y="4478159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800" y="0"/>
                </a:lnTo>
                <a:lnTo>
                  <a:pt x="1094800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16499" y="4434402"/>
            <a:ext cx="1078676" cy="107867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27978" y="4597431"/>
            <a:ext cx="655718" cy="752618"/>
          </a:xfrm>
          <a:custGeom>
            <a:avLst/>
            <a:gdLst/>
            <a:ahLst/>
            <a:cxnLst/>
            <a:rect r="r" b="b" t="t" l="l"/>
            <a:pathLst>
              <a:path h="752618" w="655718">
                <a:moveTo>
                  <a:pt x="0" y="0"/>
                </a:moveTo>
                <a:lnTo>
                  <a:pt x="655718" y="0"/>
                </a:lnTo>
                <a:lnTo>
                  <a:pt x="655718" y="752617"/>
                </a:lnTo>
                <a:lnTo>
                  <a:pt x="0" y="7526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043079" y="4684201"/>
            <a:ext cx="324554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8F8F8"/>
                </a:solidFill>
                <a:latin typeface="Poppins Bold"/>
              </a:rPr>
              <a:t>CAMPUS ENTRY SYSTEM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90100" y="2692790"/>
            <a:ext cx="5307801" cy="1272624"/>
            <a:chOff x="0" y="0"/>
            <a:chExt cx="7077068" cy="16968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077068" cy="1696832"/>
              <a:chOff x="0" y="0"/>
              <a:chExt cx="1086429" cy="2604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86429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86429">
                    <a:moveTo>
                      <a:pt x="130244" y="0"/>
                    </a:moveTo>
                    <a:lnTo>
                      <a:pt x="956186" y="0"/>
                    </a:lnTo>
                    <a:cubicBezTo>
                      <a:pt x="990728" y="0"/>
                      <a:pt x="1023856" y="13722"/>
                      <a:pt x="1048282" y="38148"/>
                    </a:cubicBezTo>
                    <a:cubicBezTo>
                      <a:pt x="1072707" y="62573"/>
                      <a:pt x="1086429" y="95701"/>
                      <a:pt x="1086429" y="130244"/>
                    </a:cubicBezTo>
                    <a:lnTo>
                      <a:pt x="1086429" y="130244"/>
                    </a:lnTo>
                    <a:cubicBezTo>
                      <a:pt x="1086429" y="202175"/>
                      <a:pt x="1028117" y="260488"/>
                      <a:pt x="956186" y="260488"/>
                    </a:cubicBezTo>
                    <a:lnTo>
                      <a:pt x="130244" y="260488"/>
                    </a:lnTo>
                    <a:cubicBezTo>
                      <a:pt x="95701" y="260488"/>
                      <a:pt x="62573" y="246766"/>
                      <a:pt x="38148" y="222340"/>
                    </a:cubicBezTo>
                    <a:cubicBezTo>
                      <a:pt x="13722" y="197915"/>
                      <a:pt x="0" y="164787"/>
                      <a:pt x="0" y="130244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86429" cy="298588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540707" y="527639"/>
              <a:ext cx="5995653" cy="565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422"/>
                </a:lnSpc>
                <a:spcBef>
                  <a:spcPct val="0"/>
                </a:spcBef>
              </a:pPr>
              <a:r>
                <a:rPr lang="en-US" sz="2444">
                  <a:solidFill>
                    <a:srgbClr val="3B3B3B"/>
                  </a:solidFill>
                  <a:latin typeface="Poppins"/>
                </a:rPr>
                <a:t>Integration of RFID to ID Card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4753084"/>
            <a:ext cx="3845014" cy="2768410"/>
          </a:xfrm>
          <a:custGeom>
            <a:avLst/>
            <a:gdLst/>
            <a:ahLst/>
            <a:cxnLst/>
            <a:rect r="r" b="b" t="t" l="l"/>
            <a:pathLst>
              <a:path h="2768410" w="3845014">
                <a:moveTo>
                  <a:pt x="0" y="0"/>
                </a:moveTo>
                <a:lnTo>
                  <a:pt x="3845014" y="0"/>
                </a:lnTo>
                <a:lnTo>
                  <a:pt x="3845014" y="2768410"/>
                </a:lnTo>
                <a:lnTo>
                  <a:pt x="0" y="2768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4040348" y="0"/>
            <a:ext cx="2516379" cy="8458418"/>
            <a:chOff x="0" y="0"/>
            <a:chExt cx="3355172" cy="11277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55172" cy="11277890"/>
            </a:xfrm>
            <a:custGeom>
              <a:avLst/>
              <a:gdLst/>
              <a:ahLst/>
              <a:cxnLst/>
              <a:rect r="r" b="b" t="t" l="l"/>
              <a:pathLst>
                <a:path h="11277890" w="3355172">
                  <a:moveTo>
                    <a:pt x="0" y="0"/>
                  </a:moveTo>
                  <a:lnTo>
                    <a:pt x="3355172" y="0"/>
                  </a:lnTo>
                  <a:lnTo>
                    <a:pt x="3355172" y="11277890"/>
                  </a:lnTo>
                  <a:lnTo>
                    <a:pt x="0" y="1127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10980" y="8160096"/>
              <a:ext cx="2304100" cy="1356539"/>
            </a:xfrm>
            <a:custGeom>
              <a:avLst/>
              <a:gdLst/>
              <a:ahLst/>
              <a:cxnLst/>
              <a:rect r="r" b="b" t="t" l="l"/>
              <a:pathLst>
                <a:path h="1356539" w="2304100">
                  <a:moveTo>
                    <a:pt x="0" y="0"/>
                  </a:moveTo>
                  <a:lnTo>
                    <a:pt x="2304099" y="0"/>
                  </a:lnTo>
                  <a:lnTo>
                    <a:pt x="2304099" y="1356539"/>
                  </a:lnTo>
                  <a:lnTo>
                    <a:pt x="0" y="1356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46047" y="895350"/>
            <a:ext cx="7595905" cy="82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Proposed Solution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6852695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533961" y="12472860"/>
              <a:ext cx="6110148" cy="1045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85"/>
                </a:lnSpc>
                <a:spcBef>
                  <a:spcPct val="0"/>
                </a:spcBef>
              </a:pPr>
              <a:r>
                <a:rPr lang="en-US" sz="4560">
                  <a:solidFill>
                    <a:srgbClr val="1F2020"/>
                  </a:solidFill>
                  <a:latin typeface="Poppins Bold"/>
                </a:rPr>
                <a:t>USE CASES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0646" y="2266643"/>
            <a:ext cx="5480606" cy="3006879"/>
            <a:chOff x="0" y="0"/>
            <a:chExt cx="7307475" cy="400917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307475" cy="4009172"/>
              <a:chOff x="0" y="0"/>
              <a:chExt cx="1052050" cy="57719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52050" cy="577197"/>
              </a:xfrm>
              <a:custGeom>
                <a:avLst/>
                <a:gdLst/>
                <a:ahLst/>
                <a:cxnLst/>
                <a:rect r="r" b="b" t="t" l="l"/>
                <a:pathLst>
                  <a:path h="577197" w="1052050">
                    <a:moveTo>
                      <a:pt x="70630" y="0"/>
                    </a:moveTo>
                    <a:lnTo>
                      <a:pt x="981420" y="0"/>
                    </a:lnTo>
                    <a:cubicBezTo>
                      <a:pt x="1000152" y="0"/>
                      <a:pt x="1018118" y="7441"/>
                      <a:pt x="1031363" y="20687"/>
                    </a:cubicBezTo>
                    <a:cubicBezTo>
                      <a:pt x="1044609" y="33933"/>
                      <a:pt x="1052050" y="51898"/>
                      <a:pt x="1052050" y="70630"/>
                    </a:cubicBezTo>
                    <a:lnTo>
                      <a:pt x="1052050" y="506567"/>
                    </a:lnTo>
                    <a:cubicBezTo>
                      <a:pt x="1052050" y="545575"/>
                      <a:pt x="1020428" y="577197"/>
                      <a:pt x="981420" y="577197"/>
                    </a:cubicBezTo>
                    <a:lnTo>
                      <a:pt x="70630" y="577197"/>
                    </a:lnTo>
                    <a:cubicBezTo>
                      <a:pt x="51898" y="577197"/>
                      <a:pt x="33933" y="569755"/>
                      <a:pt x="20687" y="556510"/>
                    </a:cubicBezTo>
                    <a:cubicBezTo>
                      <a:pt x="7441" y="543264"/>
                      <a:pt x="0" y="525299"/>
                      <a:pt x="0" y="506567"/>
                    </a:cubicBezTo>
                    <a:lnTo>
                      <a:pt x="0" y="70630"/>
                    </a:lnTo>
                    <a:cubicBezTo>
                      <a:pt x="0" y="51898"/>
                      <a:pt x="7441" y="33933"/>
                      <a:pt x="20687" y="20687"/>
                    </a:cubicBezTo>
                    <a:cubicBezTo>
                      <a:pt x="33933" y="7441"/>
                      <a:pt x="51898" y="0"/>
                      <a:pt x="70630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52050" cy="615297"/>
              </a:xfrm>
              <a:prstGeom prst="rect">
                <a:avLst/>
              </a:prstGeom>
            </p:spPr>
            <p:txBody>
              <a:bodyPr anchor="ctr" rtlCol="false" tIns="50208" lIns="50208" bIns="50208" rIns="5020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851310" y="758422"/>
              <a:ext cx="1459732" cy="1457908"/>
            </a:xfrm>
            <a:custGeom>
              <a:avLst/>
              <a:gdLst/>
              <a:ahLst/>
              <a:cxnLst/>
              <a:rect r="r" b="b" t="t" l="l"/>
              <a:pathLst>
                <a:path h="1457908" w="1459732">
                  <a:moveTo>
                    <a:pt x="0" y="0"/>
                  </a:moveTo>
                  <a:lnTo>
                    <a:pt x="1459733" y="0"/>
                  </a:lnTo>
                  <a:lnTo>
                    <a:pt x="1459733" y="1457908"/>
                  </a:lnTo>
                  <a:lnTo>
                    <a:pt x="0" y="1457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817277" y="700080"/>
              <a:ext cx="1438234" cy="1438234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208" lIns="50208" bIns="50208" rIns="5020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121765" y="1148718"/>
              <a:ext cx="918824" cy="540957"/>
            </a:xfrm>
            <a:custGeom>
              <a:avLst/>
              <a:gdLst/>
              <a:ahLst/>
              <a:cxnLst/>
              <a:rect r="r" b="b" t="t" l="l"/>
              <a:pathLst>
                <a:path h="540957" w="918824">
                  <a:moveTo>
                    <a:pt x="0" y="0"/>
                  </a:moveTo>
                  <a:lnTo>
                    <a:pt x="918823" y="0"/>
                  </a:lnTo>
                  <a:lnTo>
                    <a:pt x="918823" y="540958"/>
                  </a:lnTo>
                  <a:lnTo>
                    <a:pt x="0" y="540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875617" y="701272"/>
              <a:ext cx="4096398" cy="1046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8F8F8"/>
                  </a:solidFill>
                  <a:latin typeface="Poppins Bold"/>
                </a:rPr>
                <a:t>BUS MANAGEMENT SYSTEM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855811" y="1976389"/>
              <a:ext cx="3360966" cy="177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FFFFFF"/>
                  </a:solidFill>
                  <a:latin typeface="Poppins"/>
                </a:rPr>
                <a:t>RFID integration optimizes college bus pass verification system, facilitating tracking of student fee due.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flipV="true">
              <a:off x="2855811" y="1772728"/>
              <a:ext cx="3360966" cy="25400"/>
            </a:xfrm>
            <a:prstGeom prst="line">
              <a:avLst/>
            </a:prstGeom>
            <a:ln cap="flat" w="50800">
              <a:solidFill>
                <a:srgbClr val="F8F8F8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2580352" y="2266643"/>
            <a:ext cx="5480606" cy="3006879"/>
            <a:chOff x="0" y="0"/>
            <a:chExt cx="1052050" cy="577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218834" y="2835460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193309" y="2791703"/>
            <a:ext cx="1078676" cy="107867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1638427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2"/>
                </a:lnTo>
                <a:lnTo>
                  <a:pt x="0" y="426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30646" y="2266643"/>
            <a:ext cx="5480606" cy="3006879"/>
            <a:chOff x="0" y="0"/>
            <a:chExt cx="1052050" cy="5771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69129" y="2835460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43604" y="2791703"/>
            <a:ext cx="1078676" cy="107867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71970" y="3128182"/>
            <a:ext cx="689118" cy="405718"/>
          </a:xfrm>
          <a:custGeom>
            <a:avLst/>
            <a:gdLst/>
            <a:ahLst/>
            <a:cxnLst/>
            <a:rect r="r" b="b" t="t" l="l"/>
            <a:pathLst>
              <a:path h="405718" w="689118">
                <a:moveTo>
                  <a:pt x="0" y="0"/>
                </a:moveTo>
                <a:lnTo>
                  <a:pt x="689117" y="0"/>
                </a:lnTo>
                <a:lnTo>
                  <a:pt x="689117" y="405718"/>
                </a:lnTo>
                <a:lnTo>
                  <a:pt x="0" y="40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392527" y="2967806"/>
            <a:ext cx="680241" cy="726471"/>
          </a:xfrm>
          <a:custGeom>
            <a:avLst/>
            <a:gdLst/>
            <a:ahLst/>
            <a:cxnLst/>
            <a:rect r="r" b="b" t="t" l="l"/>
            <a:pathLst>
              <a:path h="726471" w="680241">
                <a:moveTo>
                  <a:pt x="0" y="0"/>
                </a:moveTo>
                <a:lnTo>
                  <a:pt x="680241" y="0"/>
                </a:lnTo>
                <a:lnTo>
                  <a:pt x="680241" y="726470"/>
                </a:lnTo>
                <a:lnTo>
                  <a:pt x="0" y="7264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737064" y="3814022"/>
            <a:ext cx="2520725" cy="8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FFFFFF"/>
                </a:solidFill>
                <a:latin typeface="Poppins"/>
              </a:rPr>
              <a:t>Streamline mess operations with RFID technology, offering efficient food  consumption tracking, and waste reduction.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37064" y="2778310"/>
            <a:ext cx="315868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8F8F8"/>
                </a:solidFill>
                <a:latin typeface="Poppins Bold"/>
              </a:rPr>
              <a:t>MESS MANAGEMENT SYSTEM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87359" y="2778310"/>
            <a:ext cx="307229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3A6AD6"/>
                </a:solidFill>
                <a:latin typeface="Poppins Bold"/>
              </a:rPr>
              <a:t>BUS MANAGEMENT SYSTEM</a:t>
            </a:r>
          </a:p>
        </p:txBody>
      </p:sp>
      <p:sp>
        <p:nvSpPr>
          <p:cNvPr name="AutoShape 30" id="30"/>
          <p:cNvSpPr/>
          <p:nvPr/>
        </p:nvSpPr>
        <p:spPr>
          <a:xfrm flipV="true">
            <a:off x="14736920" y="3656177"/>
            <a:ext cx="2520725" cy="19050"/>
          </a:xfrm>
          <a:prstGeom prst="line">
            <a:avLst/>
          </a:prstGeom>
          <a:ln cap="flat" w="381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2387503" y="3618078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6852695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72504" y="3737029"/>
            <a:ext cx="2520725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</a:rPr>
              <a:t>RFID integration optimizes college bus pass verification system, facilitating tracking of student fee due.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3201595" y="5968600"/>
            <a:ext cx="5480606" cy="3006879"/>
            <a:chOff x="0" y="0"/>
            <a:chExt cx="1052050" cy="577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840078" y="6537417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814553" y="6493660"/>
            <a:ext cx="1078676" cy="107867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1638427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2"/>
                </a:lnTo>
                <a:lnTo>
                  <a:pt x="0" y="426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30646" y="2266643"/>
            <a:ext cx="5480606" cy="3006879"/>
            <a:chOff x="0" y="0"/>
            <a:chExt cx="1052050" cy="5771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69129" y="2835460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43604" y="2791703"/>
            <a:ext cx="1078676" cy="107867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71970" y="3128182"/>
            <a:ext cx="689118" cy="405718"/>
          </a:xfrm>
          <a:custGeom>
            <a:avLst/>
            <a:gdLst/>
            <a:ahLst/>
            <a:cxnLst/>
            <a:rect r="r" b="b" t="t" l="l"/>
            <a:pathLst>
              <a:path h="405718" w="689118">
                <a:moveTo>
                  <a:pt x="0" y="0"/>
                </a:moveTo>
                <a:lnTo>
                  <a:pt x="689117" y="0"/>
                </a:lnTo>
                <a:lnTo>
                  <a:pt x="689117" y="405718"/>
                </a:lnTo>
                <a:lnTo>
                  <a:pt x="0" y="40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349705" y="1638427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2"/>
                </a:lnTo>
                <a:lnTo>
                  <a:pt x="0" y="426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2580352" y="2266643"/>
            <a:ext cx="5480606" cy="3006879"/>
            <a:chOff x="0" y="0"/>
            <a:chExt cx="1052050" cy="5771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3218834" y="2835460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193309" y="2791703"/>
            <a:ext cx="1078676" cy="107867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3392527" y="2967806"/>
            <a:ext cx="680241" cy="726471"/>
          </a:xfrm>
          <a:custGeom>
            <a:avLst/>
            <a:gdLst/>
            <a:ahLst/>
            <a:cxnLst/>
            <a:rect r="r" b="b" t="t" l="l"/>
            <a:pathLst>
              <a:path h="726471" w="680241">
                <a:moveTo>
                  <a:pt x="0" y="0"/>
                </a:moveTo>
                <a:lnTo>
                  <a:pt x="680241" y="0"/>
                </a:lnTo>
                <a:lnTo>
                  <a:pt x="680241" y="726470"/>
                </a:lnTo>
                <a:lnTo>
                  <a:pt x="0" y="7264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3991002" y="6694603"/>
            <a:ext cx="725779" cy="676789"/>
          </a:xfrm>
          <a:custGeom>
            <a:avLst/>
            <a:gdLst/>
            <a:ahLst/>
            <a:cxnLst/>
            <a:rect r="r" b="b" t="t" l="l"/>
            <a:pathLst>
              <a:path h="676789" w="725779">
                <a:moveTo>
                  <a:pt x="0" y="0"/>
                </a:moveTo>
                <a:lnTo>
                  <a:pt x="725778" y="0"/>
                </a:lnTo>
                <a:lnTo>
                  <a:pt x="725778" y="676789"/>
                </a:lnTo>
                <a:lnTo>
                  <a:pt x="0" y="6767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358308" y="7472039"/>
            <a:ext cx="2520725" cy="109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FFFFFF"/>
                </a:solidFill>
                <a:latin typeface="Poppins"/>
              </a:rPr>
              <a:t>Improve attendance tracking with RFID technology, ensuring time management, automation, and real-time monitoring.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358308" y="6480267"/>
            <a:ext cx="299511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</a:pPr>
            <a:r>
              <a:rPr lang="en-US" sz="2299">
                <a:solidFill>
                  <a:srgbClr val="F8F8F8"/>
                </a:solidFill>
                <a:latin typeface="Poppins Bold"/>
              </a:rPr>
              <a:t>ATTENDANCE </a:t>
            </a:r>
          </a:p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8F8F8"/>
                </a:solidFill>
                <a:latin typeface="Poppins Bold"/>
              </a:rPr>
              <a:t>SYSTEM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87359" y="2778310"/>
            <a:ext cx="307229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3A6AD6"/>
                </a:solidFill>
                <a:latin typeface="Poppins Bold"/>
              </a:rPr>
              <a:t>BUS MANAGEMENT SYSTEM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737064" y="3814022"/>
            <a:ext cx="2520725" cy="8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3B3B3B"/>
                </a:solidFill>
                <a:latin typeface="Poppins"/>
              </a:rPr>
              <a:t>Streamline mess operations with RFID technology, offering efficient food  consumption tracking, and waste reduction.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37064" y="2778310"/>
            <a:ext cx="315868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A6AD6"/>
                </a:solidFill>
                <a:latin typeface="Poppins Bold"/>
              </a:rPr>
              <a:t>MESS MANAGEMENT SYSTEM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5358164" y="7333293"/>
            <a:ext cx="2520725" cy="19050"/>
          </a:xfrm>
          <a:prstGeom prst="line">
            <a:avLst/>
          </a:prstGeom>
          <a:ln cap="flat" w="381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14736920" y="3596190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2414009" y="3605715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6852695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72504" y="3737029"/>
            <a:ext cx="2520725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F2020"/>
                </a:solidFill>
                <a:latin typeface="Poppins"/>
              </a:rPr>
              <a:t>RFID integration optimizes college bus pass verification system, facilitating tracking of student fee due.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2970949" y="5340383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3"/>
                </a:lnTo>
                <a:lnTo>
                  <a:pt x="0" y="426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201595" y="5968600"/>
            <a:ext cx="5480606" cy="3006879"/>
            <a:chOff x="0" y="0"/>
            <a:chExt cx="1052050" cy="577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840078" y="6537417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814553" y="6493660"/>
            <a:ext cx="1078676" cy="107867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0" y="1638427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2"/>
                </a:lnTo>
                <a:lnTo>
                  <a:pt x="0" y="426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30646" y="2266643"/>
            <a:ext cx="5480606" cy="3006879"/>
            <a:chOff x="0" y="0"/>
            <a:chExt cx="1052050" cy="577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69129" y="2835460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843604" y="2791703"/>
            <a:ext cx="1078676" cy="107867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71970" y="3128182"/>
            <a:ext cx="689118" cy="405718"/>
          </a:xfrm>
          <a:custGeom>
            <a:avLst/>
            <a:gdLst/>
            <a:ahLst/>
            <a:cxnLst/>
            <a:rect r="r" b="b" t="t" l="l"/>
            <a:pathLst>
              <a:path h="405718" w="689118">
                <a:moveTo>
                  <a:pt x="0" y="0"/>
                </a:moveTo>
                <a:lnTo>
                  <a:pt x="689117" y="0"/>
                </a:lnTo>
                <a:lnTo>
                  <a:pt x="689117" y="405718"/>
                </a:lnTo>
                <a:lnTo>
                  <a:pt x="0" y="40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349705" y="1638427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2"/>
                </a:lnTo>
                <a:lnTo>
                  <a:pt x="0" y="426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2580352" y="2266643"/>
            <a:ext cx="5480606" cy="3006879"/>
            <a:chOff x="0" y="0"/>
            <a:chExt cx="1052050" cy="5771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3218834" y="2835460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3193309" y="2791703"/>
            <a:ext cx="1078676" cy="107867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3392527" y="2967806"/>
            <a:ext cx="680241" cy="726471"/>
          </a:xfrm>
          <a:custGeom>
            <a:avLst/>
            <a:gdLst/>
            <a:ahLst/>
            <a:cxnLst/>
            <a:rect r="r" b="b" t="t" l="l"/>
            <a:pathLst>
              <a:path h="726471" w="680241">
                <a:moveTo>
                  <a:pt x="0" y="0"/>
                </a:moveTo>
                <a:lnTo>
                  <a:pt x="680241" y="0"/>
                </a:lnTo>
                <a:lnTo>
                  <a:pt x="680241" y="726470"/>
                </a:lnTo>
                <a:lnTo>
                  <a:pt x="0" y="7264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3991002" y="6694603"/>
            <a:ext cx="725779" cy="676789"/>
          </a:xfrm>
          <a:custGeom>
            <a:avLst/>
            <a:gdLst/>
            <a:ahLst/>
            <a:cxnLst/>
            <a:rect r="r" b="b" t="t" l="l"/>
            <a:pathLst>
              <a:path h="676789" w="725779">
                <a:moveTo>
                  <a:pt x="0" y="0"/>
                </a:moveTo>
                <a:lnTo>
                  <a:pt x="725778" y="0"/>
                </a:lnTo>
                <a:lnTo>
                  <a:pt x="725778" y="676789"/>
                </a:lnTo>
                <a:lnTo>
                  <a:pt x="0" y="6767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5358308" y="7472039"/>
            <a:ext cx="2520725" cy="109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3B3B3B"/>
                </a:solidFill>
                <a:latin typeface="Poppins"/>
              </a:rPr>
              <a:t>Improve attendance tracking with RFID technology, ensuring time management, automation, and real-time monitoring.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58308" y="6480267"/>
            <a:ext cx="299511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</a:pPr>
            <a:r>
              <a:rPr lang="en-US" sz="2299">
                <a:solidFill>
                  <a:srgbClr val="3A6AD6"/>
                </a:solidFill>
                <a:latin typeface="Poppins Bold"/>
              </a:rPr>
              <a:t>ATTENDANCE </a:t>
            </a:r>
          </a:p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A6AD6"/>
                </a:solidFill>
                <a:latin typeface="Poppins Bold"/>
              </a:rPr>
              <a:t>SYSTEM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87359" y="2778310"/>
            <a:ext cx="307229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3A6AD6"/>
                </a:solidFill>
                <a:latin typeface="Poppins Bold"/>
              </a:rPr>
              <a:t>BUS MANAGEMENT SYSTEM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37064" y="3814022"/>
            <a:ext cx="2520725" cy="8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3B3B3B"/>
                </a:solidFill>
                <a:latin typeface="Poppins"/>
              </a:rPr>
              <a:t>Streamline mess operations with RFID technology, offering efficient food  consumption tracking, and waste reduction.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737064" y="2778310"/>
            <a:ext cx="315868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A6AD6"/>
                </a:solidFill>
                <a:latin typeface="Poppins Bold"/>
              </a:rPr>
              <a:t>MESS MANAGEMENT SYSTEM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74646" y="5968600"/>
            <a:ext cx="5480606" cy="3006879"/>
            <a:chOff x="0" y="0"/>
            <a:chExt cx="1052050" cy="57719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0013129" y="6537417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9987604" y="6493660"/>
            <a:ext cx="1078676" cy="1078676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9" id="49"/>
          <p:cNvSpPr/>
          <p:nvPr/>
        </p:nvSpPr>
        <p:spPr>
          <a:xfrm flipV="true">
            <a:off x="11531215" y="7333293"/>
            <a:ext cx="2520725" cy="19050"/>
          </a:xfrm>
          <a:prstGeom prst="line">
            <a:avLst/>
          </a:prstGeom>
          <a:ln cap="flat" w="381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0199083" y="6656689"/>
            <a:ext cx="655718" cy="752618"/>
          </a:xfrm>
          <a:custGeom>
            <a:avLst/>
            <a:gdLst/>
            <a:ahLst/>
            <a:cxnLst/>
            <a:rect r="r" b="b" t="t" l="l"/>
            <a:pathLst>
              <a:path h="752618" w="655718">
                <a:moveTo>
                  <a:pt x="0" y="0"/>
                </a:moveTo>
                <a:lnTo>
                  <a:pt x="655718" y="0"/>
                </a:lnTo>
                <a:lnTo>
                  <a:pt x="655718" y="752617"/>
                </a:lnTo>
                <a:lnTo>
                  <a:pt x="0" y="752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1531359" y="7412598"/>
            <a:ext cx="2520725" cy="109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FFFFFF"/>
                </a:solidFill>
                <a:latin typeface="Poppins"/>
              </a:rPr>
              <a:t>Secure campus with RFID-enabled access control, offering enhanced security, controlled access, and movement tracking.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531359" y="6480267"/>
            <a:ext cx="278227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8F8F8"/>
                </a:solidFill>
                <a:latin typeface="Poppins Bold"/>
              </a:rPr>
              <a:t>CAMPUS ENTRY SYSTEM</a:t>
            </a:r>
          </a:p>
        </p:txBody>
      </p:sp>
      <p:sp>
        <p:nvSpPr>
          <p:cNvPr name="AutoShape 53" id="53"/>
          <p:cNvSpPr/>
          <p:nvPr/>
        </p:nvSpPr>
        <p:spPr>
          <a:xfrm flipV="true">
            <a:off x="5358452" y="7371392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V="true">
            <a:off x="14736920" y="3567615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V="true">
            <a:off x="2387503" y="3605715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6" id="56"/>
          <p:cNvSpPr txBox="true"/>
          <p:nvPr/>
        </p:nvSpPr>
        <p:spPr>
          <a:xfrm rot="0">
            <a:off x="6852695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372504" y="3737029"/>
            <a:ext cx="2520725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</a:rPr>
              <a:t>RFID integration optimizes college bus pass verification system, facilitating tracking of student fee due.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230646" y="1924444"/>
            <a:ext cx="5480606" cy="3006879"/>
            <a:chOff x="0" y="0"/>
            <a:chExt cx="1052050" cy="577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69129" y="2493261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43604" y="2449504"/>
            <a:ext cx="1078676" cy="107867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12319" y="2810943"/>
            <a:ext cx="741245" cy="355798"/>
          </a:xfrm>
          <a:custGeom>
            <a:avLst/>
            <a:gdLst/>
            <a:ahLst/>
            <a:cxnLst/>
            <a:rect r="r" b="b" t="t" l="l"/>
            <a:pathLst>
              <a:path h="355798" w="741245">
                <a:moveTo>
                  <a:pt x="0" y="0"/>
                </a:moveTo>
                <a:lnTo>
                  <a:pt x="741245" y="0"/>
                </a:lnTo>
                <a:lnTo>
                  <a:pt x="741245" y="355798"/>
                </a:lnTo>
                <a:lnTo>
                  <a:pt x="0" y="3557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87359" y="2241146"/>
            <a:ext cx="307229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Poppins Bold"/>
              </a:rPr>
              <a:t>GYM MANAGEMENT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87359" y="3399309"/>
            <a:ext cx="2724689" cy="133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FFFFFF"/>
                </a:solidFill>
                <a:latin typeface="Poppins"/>
              </a:rPr>
              <a:t> Streamline fitness center operations with RFID-enabled tracking for member check-ins, equipment usage enhancing efficiency and member experience.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2387503" y="3185790"/>
            <a:ext cx="2520725" cy="19050"/>
          </a:xfrm>
          <a:prstGeom prst="line">
            <a:avLst/>
          </a:prstGeom>
          <a:ln cap="flat" w="381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6862220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2079648" y="2266643"/>
            <a:ext cx="6767416" cy="3006879"/>
            <a:chOff x="0" y="0"/>
            <a:chExt cx="1299065" cy="577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065" cy="577197"/>
            </a:xfrm>
            <a:custGeom>
              <a:avLst/>
              <a:gdLst/>
              <a:ahLst/>
              <a:cxnLst/>
              <a:rect r="r" b="b" t="t" l="l"/>
              <a:pathLst>
                <a:path h="577197" w="1299065">
                  <a:moveTo>
                    <a:pt x="57200" y="0"/>
                  </a:moveTo>
                  <a:lnTo>
                    <a:pt x="1241865" y="0"/>
                  </a:lnTo>
                  <a:cubicBezTo>
                    <a:pt x="1257035" y="0"/>
                    <a:pt x="1271584" y="6026"/>
                    <a:pt x="1282311" y="16753"/>
                  </a:cubicBezTo>
                  <a:cubicBezTo>
                    <a:pt x="1293038" y="27481"/>
                    <a:pt x="1299065" y="42030"/>
                    <a:pt x="1299065" y="57200"/>
                  </a:cubicBezTo>
                  <a:lnTo>
                    <a:pt x="1299065" y="519997"/>
                  </a:lnTo>
                  <a:cubicBezTo>
                    <a:pt x="1299065" y="551587"/>
                    <a:pt x="1273456" y="577197"/>
                    <a:pt x="1241865" y="577197"/>
                  </a:cubicBezTo>
                  <a:lnTo>
                    <a:pt x="57200" y="577197"/>
                  </a:lnTo>
                  <a:cubicBezTo>
                    <a:pt x="42030" y="577197"/>
                    <a:pt x="27481" y="571170"/>
                    <a:pt x="16753" y="560443"/>
                  </a:cubicBezTo>
                  <a:cubicBezTo>
                    <a:pt x="6026" y="549716"/>
                    <a:pt x="0" y="535167"/>
                    <a:pt x="0" y="519997"/>
                  </a:cubicBezTo>
                  <a:lnTo>
                    <a:pt x="0" y="57200"/>
                  </a:lnTo>
                  <a:cubicBezTo>
                    <a:pt x="0" y="42030"/>
                    <a:pt x="6026" y="27481"/>
                    <a:pt x="16753" y="16753"/>
                  </a:cubicBezTo>
                  <a:cubicBezTo>
                    <a:pt x="27481" y="6026"/>
                    <a:pt x="42030" y="0"/>
                    <a:pt x="572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9065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841969" y="2835460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800" y="0"/>
                </a:lnTo>
                <a:lnTo>
                  <a:pt x="1094800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816444" y="2791703"/>
            <a:ext cx="1078676" cy="107867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111537" y="3056751"/>
            <a:ext cx="555663" cy="650850"/>
          </a:xfrm>
          <a:custGeom>
            <a:avLst/>
            <a:gdLst/>
            <a:ahLst/>
            <a:cxnLst/>
            <a:rect r="r" b="b" t="t" l="l"/>
            <a:pathLst>
              <a:path h="650850" w="555663">
                <a:moveTo>
                  <a:pt x="0" y="0"/>
                </a:moveTo>
                <a:lnTo>
                  <a:pt x="555663" y="0"/>
                </a:lnTo>
                <a:lnTo>
                  <a:pt x="555663" y="650850"/>
                </a:lnTo>
                <a:lnTo>
                  <a:pt x="0" y="650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243336" y="3741508"/>
            <a:ext cx="3321116" cy="88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FFFFFF"/>
                </a:solidFill>
                <a:latin typeface="Poppins"/>
              </a:rPr>
              <a:t>Utilize RFID technology to automate event registration, ticketing, and attendee tracking, enhancing event management efficiency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43336" y="2629053"/>
            <a:ext cx="404466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oppins Bold"/>
              </a:rPr>
              <a:t>CLUB EVENTS MANAGEMENT SYSTEM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0" y="1296227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3"/>
                </a:lnTo>
                <a:lnTo>
                  <a:pt x="0" y="4263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30646" y="1924444"/>
            <a:ext cx="5480606" cy="3006879"/>
            <a:chOff x="0" y="0"/>
            <a:chExt cx="1052050" cy="5771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69129" y="2493261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43604" y="2449504"/>
            <a:ext cx="1078676" cy="107867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12319" y="2810943"/>
            <a:ext cx="741245" cy="355798"/>
          </a:xfrm>
          <a:custGeom>
            <a:avLst/>
            <a:gdLst/>
            <a:ahLst/>
            <a:cxnLst/>
            <a:rect r="r" b="b" t="t" l="l"/>
            <a:pathLst>
              <a:path h="355798" w="741245">
                <a:moveTo>
                  <a:pt x="0" y="0"/>
                </a:moveTo>
                <a:lnTo>
                  <a:pt x="741245" y="0"/>
                </a:lnTo>
                <a:lnTo>
                  <a:pt x="741245" y="355798"/>
                </a:lnTo>
                <a:lnTo>
                  <a:pt x="0" y="355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387359" y="2241146"/>
            <a:ext cx="307229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3A6AD6"/>
                </a:solidFill>
                <a:latin typeface="Poppins Bold"/>
              </a:rPr>
              <a:t>GYM MANAGEMENT SYSTEM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87359" y="3399309"/>
            <a:ext cx="2724689" cy="133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3A6AD6"/>
                </a:solidFill>
                <a:latin typeface="Poppins"/>
              </a:rPr>
              <a:t> Streamline fitness center operations with RFID-enabled tracking for member check-ins, equipment usage enhancing efficiency and member experience.</a:t>
            </a:r>
          </a:p>
        </p:txBody>
      </p:sp>
      <p:sp>
        <p:nvSpPr>
          <p:cNvPr name="AutoShape 31" id="31"/>
          <p:cNvSpPr/>
          <p:nvPr/>
        </p:nvSpPr>
        <p:spPr>
          <a:xfrm flipV="true">
            <a:off x="2387503" y="3185790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14202994" y="3577167"/>
            <a:ext cx="2520725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6852695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1972840" y="1638427"/>
            <a:ext cx="6432023" cy="4263312"/>
          </a:xfrm>
          <a:custGeom>
            <a:avLst/>
            <a:gdLst/>
            <a:ahLst/>
            <a:cxnLst/>
            <a:rect r="r" b="b" t="t" l="l"/>
            <a:pathLst>
              <a:path h="4263312" w="6432023">
                <a:moveTo>
                  <a:pt x="0" y="0"/>
                </a:moveTo>
                <a:lnTo>
                  <a:pt x="6432023" y="0"/>
                </a:lnTo>
                <a:lnTo>
                  <a:pt x="6432023" y="4263312"/>
                </a:lnTo>
                <a:lnTo>
                  <a:pt x="0" y="426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-4124" r="0" b="-4124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079648" y="2266643"/>
            <a:ext cx="6767416" cy="3006879"/>
            <a:chOff x="0" y="0"/>
            <a:chExt cx="1299065" cy="577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9065" cy="577197"/>
            </a:xfrm>
            <a:custGeom>
              <a:avLst/>
              <a:gdLst/>
              <a:ahLst/>
              <a:cxnLst/>
              <a:rect r="r" b="b" t="t" l="l"/>
              <a:pathLst>
                <a:path h="577197" w="1299065">
                  <a:moveTo>
                    <a:pt x="57200" y="0"/>
                  </a:moveTo>
                  <a:lnTo>
                    <a:pt x="1241865" y="0"/>
                  </a:lnTo>
                  <a:cubicBezTo>
                    <a:pt x="1257035" y="0"/>
                    <a:pt x="1271584" y="6026"/>
                    <a:pt x="1282311" y="16753"/>
                  </a:cubicBezTo>
                  <a:cubicBezTo>
                    <a:pt x="1293038" y="27481"/>
                    <a:pt x="1299065" y="42030"/>
                    <a:pt x="1299065" y="57200"/>
                  </a:cubicBezTo>
                  <a:lnTo>
                    <a:pt x="1299065" y="519997"/>
                  </a:lnTo>
                  <a:cubicBezTo>
                    <a:pt x="1299065" y="551587"/>
                    <a:pt x="1273456" y="577197"/>
                    <a:pt x="1241865" y="577197"/>
                  </a:cubicBezTo>
                  <a:lnTo>
                    <a:pt x="57200" y="577197"/>
                  </a:lnTo>
                  <a:cubicBezTo>
                    <a:pt x="42030" y="577197"/>
                    <a:pt x="27481" y="571170"/>
                    <a:pt x="16753" y="560443"/>
                  </a:cubicBezTo>
                  <a:cubicBezTo>
                    <a:pt x="6026" y="549716"/>
                    <a:pt x="0" y="535167"/>
                    <a:pt x="0" y="519997"/>
                  </a:cubicBezTo>
                  <a:lnTo>
                    <a:pt x="0" y="57200"/>
                  </a:lnTo>
                  <a:cubicBezTo>
                    <a:pt x="0" y="42030"/>
                    <a:pt x="6026" y="27481"/>
                    <a:pt x="16753" y="16753"/>
                  </a:cubicBezTo>
                  <a:cubicBezTo>
                    <a:pt x="27481" y="6026"/>
                    <a:pt x="42030" y="0"/>
                    <a:pt x="57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9065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841969" y="2835460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800" y="0"/>
                </a:lnTo>
                <a:lnTo>
                  <a:pt x="1094800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816444" y="2791703"/>
            <a:ext cx="1078676" cy="107867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077951" y="3005616"/>
            <a:ext cx="555663" cy="650850"/>
          </a:xfrm>
          <a:custGeom>
            <a:avLst/>
            <a:gdLst/>
            <a:ahLst/>
            <a:cxnLst/>
            <a:rect r="r" b="b" t="t" l="l"/>
            <a:pathLst>
              <a:path h="650850" w="555663">
                <a:moveTo>
                  <a:pt x="0" y="0"/>
                </a:moveTo>
                <a:lnTo>
                  <a:pt x="555663" y="0"/>
                </a:lnTo>
                <a:lnTo>
                  <a:pt x="555663" y="650850"/>
                </a:lnTo>
                <a:lnTo>
                  <a:pt x="0" y="65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243336" y="3741508"/>
            <a:ext cx="3321116" cy="88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3A6AD6"/>
                </a:solidFill>
                <a:latin typeface="Poppins"/>
              </a:rPr>
              <a:t>Utilize RFID technology to automate event registration, ticketing, and attendee tracking, enhancing event management efficiency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43336" y="2629053"/>
            <a:ext cx="404466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A6AD6"/>
                </a:solidFill>
                <a:latin typeface="Poppins Bold"/>
              </a:rPr>
              <a:t>CLUB EVENTS MANAGEMENT SYSTEM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0" y="1296227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3"/>
                </a:lnTo>
                <a:lnTo>
                  <a:pt x="0" y="426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30646" y="1924444"/>
            <a:ext cx="5480606" cy="3006879"/>
            <a:chOff x="0" y="0"/>
            <a:chExt cx="1052050" cy="5771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69129" y="2493261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843604" y="2449504"/>
            <a:ext cx="1078676" cy="107867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12319" y="2810943"/>
            <a:ext cx="741245" cy="355798"/>
          </a:xfrm>
          <a:custGeom>
            <a:avLst/>
            <a:gdLst/>
            <a:ahLst/>
            <a:cxnLst/>
            <a:rect r="r" b="b" t="t" l="l"/>
            <a:pathLst>
              <a:path h="355798" w="741245">
                <a:moveTo>
                  <a:pt x="0" y="0"/>
                </a:moveTo>
                <a:lnTo>
                  <a:pt x="741245" y="0"/>
                </a:lnTo>
                <a:lnTo>
                  <a:pt x="741245" y="355798"/>
                </a:lnTo>
                <a:lnTo>
                  <a:pt x="0" y="355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387359" y="2241146"/>
            <a:ext cx="307229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3A6AD6"/>
                </a:solidFill>
                <a:latin typeface="Poppins Bold"/>
              </a:rPr>
              <a:t>GYM MANAGEMENT SYSTEM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87359" y="3399309"/>
            <a:ext cx="2724689" cy="133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3A6AD6"/>
                </a:solidFill>
                <a:latin typeface="Poppins"/>
              </a:rPr>
              <a:t> Streamline fitness center operations with RFID-enabled tracking for member check-ins, equipment usage enhancing efficiency and member experience.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2387503" y="3185790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4202994" y="3577167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3313235" y="5559540"/>
            <a:ext cx="5480606" cy="3006879"/>
            <a:chOff x="0" y="0"/>
            <a:chExt cx="1052050" cy="5771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951718" y="6128356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3926193" y="6084600"/>
            <a:ext cx="1078676" cy="1078676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4199306" y="6369142"/>
            <a:ext cx="599622" cy="611859"/>
          </a:xfrm>
          <a:custGeom>
            <a:avLst/>
            <a:gdLst/>
            <a:ahLst/>
            <a:cxnLst/>
            <a:rect r="r" b="b" t="t" l="l"/>
            <a:pathLst>
              <a:path h="611859" w="599622">
                <a:moveTo>
                  <a:pt x="0" y="0"/>
                </a:moveTo>
                <a:lnTo>
                  <a:pt x="599622" y="0"/>
                </a:lnTo>
                <a:lnTo>
                  <a:pt x="599622" y="611860"/>
                </a:lnTo>
                <a:lnTo>
                  <a:pt x="0" y="611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5374900" y="7062979"/>
            <a:ext cx="2520725" cy="245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</a:pPr>
            <a:r>
              <a:rPr lang="en-US" sz="1279">
                <a:solidFill>
                  <a:srgbClr val="FFFFFF"/>
                </a:solidFill>
                <a:latin typeface="Poppins"/>
              </a:rPr>
              <a:t>Enhance hostel administration with RFID-based solutions for student check-in/out, room access control, and inventory management</a:t>
            </a: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5336800" y="5960775"/>
            <a:ext cx="355454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oppins Bold"/>
              </a:rPr>
              <a:t>HOSTEL MANAGEMENT SYSTEM</a:t>
            </a:r>
          </a:p>
        </p:txBody>
      </p:sp>
      <p:sp>
        <p:nvSpPr>
          <p:cNvPr name="AutoShape 44" id="44"/>
          <p:cNvSpPr/>
          <p:nvPr/>
        </p:nvSpPr>
        <p:spPr>
          <a:xfrm flipV="true">
            <a:off x="5365519" y="6889086"/>
            <a:ext cx="2520725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6852695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1972840" y="1638427"/>
            <a:ext cx="6432023" cy="4263312"/>
          </a:xfrm>
          <a:custGeom>
            <a:avLst/>
            <a:gdLst/>
            <a:ahLst/>
            <a:cxnLst/>
            <a:rect r="r" b="b" t="t" l="l"/>
            <a:pathLst>
              <a:path h="4263312" w="6432023">
                <a:moveTo>
                  <a:pt x="0" y="0"/>
                </a:moveTo>
                <a:lnTo>
                  <a:pt x="6432023" y="0"/>
                </a:lnTo>
                <a:lnTo>
                  <a:pt x="6432023" y="4263312"/>
                </a:lnTo>
                <a:lnTo>
                  <a:pt x="0" y="426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-4124" r="0" b="-4124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079648" y="2266643"/>
            <a:ext cx="6767416" cy="3006879"/>
            <a:chOff x="0" y="0"/>
            <a:chExt cx="1299065" cy="577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9065" cy="577197"/>
            </a:xfrm>
            <a:custGeom>
              <a:avLst/>
              <a:gdLst/>
              <a:ahLst/>
              <a:cxnLst/>
              <a:rect r="r" b="b" t="t" l="l"/>
              <a:pathLst>
                <a:path h="577197" w="1299065">
                  <a:moveTo>
                    <a:pt x="57200" y="0"/>
                  </a:moveTo>
                  <a:lnTo>
                    <a:pt x="1241865" y="0"/>
                  </a:lnTo>
                  <a:cubicBezTo>
                    <a:pt x="1257035" y="0"/>
                    <a:pt x="1271584" y="6026"/>
                    <a:pt x="1282311" y="16753"/>
                  </a:cubicBezTo>
                  <a:cubicBezTo>
                    <a:pt x="1293038" y="27481"/>
                    <a:pt x="1299065" y="42030"/>
                    <a:pt x="1299065" y="57200"/>
                  </a:cubicBezTo>
                  <a:lnTo>
                    <a:pt x="1299065" y="519997"/>
                  </a:lnTo>
                  <a:cubicBezTo>
                    <a:pt x="1299065" y="551587"/>
                    <a:pt x="1273456" y="577197"/>
                    <a:pt x="1241865" y="577197"/>
                  </a:cubicBezTo>
                  <a:lnTo>
                    <a:pt x="57200" y="577197"/>
                  </a:lnTo>
                  <a:cubicBezTo>
                    <a:pt x="42030" y="577197"/>
                    <a:pt x="27481" y="571170"/>
                    <a:pt x="16753" y="560443"/>
                  </a:cubicBezTo>
                  <a:cubicBezTo>
                    <a:pt x="6026" y="549716"/>
                    <a:pt x="0" y="535167"/>
                    <a:pt x="0" y="519997"/>
                  </a:cubicBezTo>
                  <a:lnTo>
                    <a:pt x="0" y="57200"/>
                  </a:lnTo>
                  <a:cubicBezTo>
                    <a:pt x="0" y="42030"/>
                    <a:pt x="6026" y="27481"/>
                    <a:pt x="16753" y="16753"/>
                  </a:cubicBezTo>
                  <a:cubicBezTo>
                    <a:pt x="27481" y="6026"/>
                    <a:pt x="42030" y="0"/>
                    <a:pt x="57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9065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841969" y="2835460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800" y="0"/>
                </a:lnTo>
                <a:lnTo>
                  <a:pt x="1094800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816444" y="2791703"/>
            <a:ext cx="1078676" cy="107867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077951" y="3005616"/>
            <a:ext cx="555663" cy="650850"/>
          </a:xfrm>
          <a:custGeom>
            <a:avLst/>
            <a:gdLst/>
            <a:ahLst/>
            <a:cxnLst/>
            <a:rect r="r" b="b" t="t" l="l"/>
            <a:pathLst>
              <a:path h="650850" w="555663">
                <a:moveTo>
                  <a:pt x="0" y="0"/>
                </a:moveTo>
                <a:lnTo>
                  <a:pt x="555663" y="0"/>
                </a:lnTo>
                <a:lnTo>
                  <a:pt x="555663" y="650850"/>
                </a:lnTo>
                <a:lnTo>
                  <a:pt x="0" y="65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243336" y="3741508"/>
            <a:ext cx="3321116" cy="88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3A6AD6"/>
                </a:solidFill>
                <a:latin typeface="Poppins"/>
              </a:rPr>
              <a:t>Utilize RFID technology to automate event registration, ticketing, and attendee tracking, enhancing event management efficiency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43336" y="2629053"/>
            <a:ext cx="404466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A6AD6"/>
                </a:solidFill>
                <a:latin typeface="Poppins Bold"/>
              </a:rPr>
              <a:t>CLUB EVENTS MANAGEMENT SYSTEM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0" y="1296227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3"/>
                </a:lnTo>
                <a:lnTo>
                  <a:pt x="0" y="426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30646" y="1924444"/>
            <a:ext cx="5480606" cy="3006879"/>
            <a:chOff x="0" y="0"/>
            <a:chExt cx="1052050" cy="5771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69129" y="2493261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843604" y="2449504"/>
            <a:ext cx="1078676" cy="107867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12319" y="2810943"/>
            <a:ext cx="741245" cy="355798"/>
          </a:xfrm>
          <a:custGeom>
            <a:avLst/>
            <a:gdLst/>
            <a:ahLst/>
            <a:cxnLst/>
            <a:rect r="r" b="b" t="t" l="l"/>
            <a:pathLst>
              <a:path h="355798" w="741245">
                <a:moveTo>
                  <a:pt x="0" y="0"/>
                </a:moveTo>
                <a:lnTo>
                  <a:pt x="741245" y="0"/>
                </a:lnTo>
                <a:lnTo>
                  <a:pt x="741245" y="355798"/>
                </a:lnTo>
                <a:lnTo>
                  <a:pt x="0" y="355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387359" y="2241146"/>
            <a:ext cx="307229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3A6AD6"/>
                </a:solidFill>
                <a:latin typeface="Poppins Bold"/>
              </a:rPr>
              <a:t>GYM MANAGEMENT SYSTEM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87359" y="3399309"/>
            <a:ext cx="2724689" cy="133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3A6AD6"/>
                </a:solidFill>
                <a:latin typeface="Poppins"/>
              </a:rPr>
              <a:t> Streamline fitness center operations with RFID-enabled tracking for member check-ins, equipment usage enhancing efficiency and member experience.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2387503" y="3185790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4202994" y="3577167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3082589" y="4931323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9" y="0"/>
                </a:lnTo>
                <a:lnTo>
                  <a:pt x="5941899" y="4263312"/>
                </a:lnTo>
                <a:lnTo>
                  <a:pt x="0" y="426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3313235" y="5559540"/>
            <a:ext cx="5480606" cy="3006879"/>
            <a:chOff x="0" y="0"/>
            <a:chExt cx="1052050" cy="5771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3951718" y="6128356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3926193" y="6084600"/>
            <a:ext cx="1078676" cy="107867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4199306" y="6369142"/>
            <a:ext cx="599622" cy="611859"/>
          </a:xfrm>
          <a:custGeom>
            <a:avLst/>
            <a:gdLst/>
            <a:ahLst/>
            <a:cxnLst/>
            <a:rect r="r" b="b" t="t" l="l"/>
            <a:pathLst>
              <a:path h="611859" w="599622">
                <a:moveTo>
                  <a:pt x="0" y="0"/>
                </a:moveTo>
                <a:lnTo>
                  <a:pt x="599622" y="0"/>
                </a:lnTo>
                <a:lnTo>
                  <a:pt x="599622" y="611860"/>
                </a:lnTo>
                <a:lnTo>
                  <a:pt x="0" y="611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5374900" y="7062979"/>
            <a:ext cx="2520725" cy="245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</a:pPr>
            <a:r>
              <a:rPr lang="en-US" sz="1279">
                <a:solidFill>
                  <a:srgbClr val="3A6AD6"/>
                </a:solidFill>
                <a:latin typeface="Poppins"/>
              </a:rPr>
              <a:t>Enhance hostel administration with RFID-based solutions for student check-in/out, room access control, and inventory management</a:t>
            </a: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</a:pPr>
          </a:p>
          <a:p>
            <a:pPr>
              <a:lnSpc>
                <a:spcPts val="1791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5336800" y="5960775"/>
            <a:ext cx="355454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A6AD6"/>
                </a:solidFill>
                <a:latin typeface="Poppins Bold"/>
              </a:rPr>
              <a:t>HOSTEL MANAGEMENT SYSTEM</a:t>
            </a:r>
          </a:p>
        </p:txBody>
      </p:sp>
      <p:sp>
        <p:nvSpPr>
          <p:cNvPr name="AutoShape 45" id="45"/>
          <p:cNvSpPr/>
          <p:nvPr/>
        </p:nvSpPr>
        <p:spPr>
          <a:xfrm flipV="true">
            <a:off x="5365519" y="6889086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9374646" y="5624054"/>
            <a:ext cx="5480606" cy="3006879"/>
            <a:chOff x="0" y="0"/>
            <a:chExt cx="1052050" cy="5771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531359" y="7068052"/>
            <a:ext cx="2520725" cy="1113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FFFFFF"/>
                </a:solidFill>
                <a:latin typeface="Poppins"/>
              </a:rPr>
              <a:t>Implementing RFID technology for seamless access control, ensuring secure and efficient entry/exit management for facilities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0013129" y="6192871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9987604" y="6149114"/>
            <a:ext cx="1078676" cy="1078676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1512309" y="5987464"/>
            <a:ext cx="278227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oppins Bold"/>
              </a:rPr>
              <a:t>GATE PASS SYSTEM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0182427" y="6522111"/>
            <a:ext cx="689030" cy="434950"/>
          </a:xfrm>
          <a:custGeom>
            <a:avLst/>
            <a:gdLst/>
            <a:ahLst/>
            <a:cxnLst/>
            <a:rect r="r" b="b" t="t" l="l"/>
            <a:pathLst>
              <a:path h="434950" w="689030">
                <a:moveTo>
                  <a:pt x="0" y="0"/>
                </a:moveTo>
                <a:lnTo>
                  <a:pt x="689030" y="0"/>
                </a:lnTo>
                <a:lnTo>
                  <a:pt x="689030" y="434950"/>
                </a:lnTo>
                <a:lnTo>
                  <a:pt x="0" y="43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6" id="56"/>
          <p:cNvSpPr/>
          <p:nvPr/>
        </p:nvSpPr>
        <p:spPr>
          <a:xfrm flipV="true">
            <a:off x="11546557" y="6908136"/>
            <a:ext cx="2520725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7" id="57"/>
          <p:cNvSpPr txBox="true"/>
          <p:nvPr/>
        </p:nvSpPr>
        <p:spPr>
          <a:xfrm rot="0">
            <a:off x="6852695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3123601" y="5623204"/>
            <a:ext cx="5480606" cy="3006879"/>
            <a:chOff x="0" y="0"/>
            <a:chExt cx="1052050" cy="577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762083" y="6192021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800" y="0"/>
                </a:lnTo>
                <a:lnTo>
                  <a:pt x="1094800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736558" y="6148264"/>
            <a:ext cx="1078676" cy="107867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261264" y="6230121"/>
            <a:ext cx="3151431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oppins Bold"/>
              </a:rPr>
              <a:t>PAYMENTS SYSTEM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5365519" y="6889086"/>
            <a:ext cx="2520725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6852695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80314" y="7067202"/>
            <a:ext cx="2520725" cy="1113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FFFFFF"/>
                </a:solidFill>
                <a:latin typeface="Poppins"/>
              </a:rPr>
              <a:t>Revolutionizing transactions with RFID-enabled payment solutions, offering fast, secure, and convenient cashless transactions for purchases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854669" y="6192021"/>
            <a:ext cx="842454" cy="793439"/>
          </a:xfrm>
          <a:custGeom>
            <a:avLst/>
            <a:gdLst/>
            <a:ahLst/>
            <a:cxnLst/>
            <a:rect r="r" b="b" t="t" l="l"/>
            <a:pathLst>
              <a:path h="793439" w="842454">
                <a:moveTo>
                  <a:pt x="0" y="0"/>
                </a:moveTo>
                <a:lnTo>
                  <a:pt x="842455" y="0"/>
                </a:lnTo>
                <a:lnTo>
                  <a:pt x="842455" y="793439"/>
                </a:lnTo>
                <a:lnTo>
                  <a:pt x="0" y="79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2892955" y="4994988"/>
            <a:ext cx="5941899" cy="4263312"/>
          </a:xfrm>
          <a:custGeom>
            <a:avLst/>
            <a:gdLst/>
            <a:ahLst/>
            <a:cxnLst/>
            <a:rect r="r" b="b" t="t" l="l"/>
            <a:pathLst>
              <a:path h="4263312" w="5941899">
                <a:moveTo>
                  <a:pt x="0" y="0"/>
                </a:moveTo>
                <a:lnTo>
                  <a:pt x="5941898" y="0"/>
                </a:lnTo>
                <a:lnTo>
                  <a:pt x="5941898" y="4263312"/>
                </a:lnTo>
                <a:lnTo>
                  <a:pt x="0" y="426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123601" y="5623204"/>
            <a:ext cx="5480606" cy="3006879"/>
            <a:chOff x="0" y="0"/>
            <a:chExt cx="1052050" cy="577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762083" y="6192021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800" y="0"/>
                </a:lnTo>
                <a:lnTo>
                  <a:pt x="1094800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736558" y="6148264"/>
            <a:ext cx="1078676" cy="107867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261264" y="6230121"/>
            <a:ext cx="3151431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A6AD6"/>
                </a:solidFill>
                <a:latin typeface="Poppins Bold"/>
              </a:rPr>
              <a:t>PAYMENTS SYSTEM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74524" y="5623204"/>
            <a:ext cx="5480606" cy="3006879"/>
            <a:chOff x="0" y="0"/>
            <a:chExt cx="1052050" cy="577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0630" y="0"/>
                  </a:moveTo>
                  <a:lnTo>
                    <a:pt x="981420" y="0"/>
                  </a:lnTo>
                  <a:cubicBezTo>
                    <a:pt x="1000152" y="0"/>
                    <a:pt x="1018118" y="7441"/>
                    <a:pt x="1031363" y="20687"/>
                  </a:cubicBezTo>
                  <a:cubicBezTo>
                    <a:pt x="1044609" y="33933"/>
                    <a:pt x="1052050" y="51898"/>
                    <a:pt x="1052050" y="70630"/>
                  </a:cubicBezTo>
                  <a:lnTo>
                    <a:pt x="1052050" y="506567"/>
                  </a:lnTo>
                  <a:cubicBezTo>
                    <a:pt x="1052050" y="545575"/>
                    <a:pt x="1020428" y="577197"/>
                    <a:pt x="981420" y="577197"/>
                  </a:cubicBezTo>
                  <a:lnTo>
                    <a:pt x="70630" y="577197"/>
                  </a:lnTo>
                  <a:cubicBezTo>
                    <a:pt x="51898" y="577197"/>
                    <a:pt x="33933" y="569755"/>
                    <a:pt x="20687" y="556510"/>
                  </a:cubicBezTo>
                  <a:cubicBezTo>
                    <a:pt x="7441" y="543264"/>
                    <a:pt x="0" y="525299"/>
                    <a:pt x="0" y="506567"/>
                  </a:cubicBezTo>
                  <a:lnTo>
                    <a:pt x="0" y="70630"/>
                  </a:lnTo>
                  <a:cubicBezTo>
                    <a:pt x="0" y="51898"/>
                    <a:pt x="7441" y="33933"/>
                    <a:pt x="20687" y="20687"/>
                  </a:cubicBezTo>
                  <a:cubicBezTo>
                    <a:pt x="33933" y="7441"/>
                    <a:pt x="51898" y="0"/>
                    <a:pt x="7063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513007" y="6192021"/>
            <a:ext cx="1094799" cy="1093431"/>
          </a:xfrm>
          <a:custGeom>
            <a:avLst/>
            <a:gdLst/>
            <a:ahLst/>
            <a:cxnLst/>
            <a:rect r="r" b="b" t="t" l="l"/>
            <a:pathLst>
              <a:path h="1093431" w="1094799">
                <a:moveTo>
                  <a:pt x="0" y="0"/>
                </a:moveTo>
                <a:lnTo>
                  <a:pt x="1094799" y="0"/>
                </a:lnTo>
                <a:lnTo>
                  <a:pt x="1094799" y="1093431"/>
                </a:lnTo>
                <a:lnTo>
                  <a:pt x="0" y="10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487482" y="6148264"/>
            <a:ext cx="1078676" cy="107867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208" lIns="50208" bIns="50208" rIns="5020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012187" y="6106296"/>
            <a:ext cx="3151431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Poppins Bold"/>
              </a:rPr>
              <a:t>ID CARD </a:t>
            </a:r>
          </a:p>
          <a:p>
            <a:pPr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Poppins Bold"/>
              </a:rPr>
              <a:t>AUTHENTICATION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5365519" y="6889086"/>
            <a:ext cx="2520725" cy="19050"/>
          </a:xfrm>
          <a:prstGeom prst="line">
            <a:avLst/>
          </a:prstGeom>
          <a:ln cap="flat" w="38100">
            <a:solidFill>
              <a:srgbClr val="3A6A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2012331" y="7012911"/>
            <a:ext cx="2520725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6852695" y="1162877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USE CASES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31237" y="7183794"/>
            <a:ext cx="2520725" cy="66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FFFFFF"/>
                </a:solidFill>
                <a:latin typeface="Poppins"/>
              </a:rPr>
              <a:t>Implementing RFID technology for reliable and efficient identity verification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80314" y="7067202"/>
            <a:ext cx="2520725" cy="1113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791"/>
              </a:lnSpc>
              <a:spcBef>
                <a:spcPct val="0"/>
              </a:spcBef>
            </a:pPr>
            <a:r>
              <a:rPr lang="en-US" sz="1279">
                <a:solidFill>
                  <a:srgbClr val="1F2020"/>
                </a:solidFill>
                <a:latin typeface="Poppins"/>
              </a:rPr>
              <a:t>Revolutionizing transactions with RFID-enabled payment solutions, offering fast, secure, and convenient cashless transactions for purchases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771863" y="6376205"/>
            <a:ext cx="509913" cy="622795"/>
          </a:xfrm>
          <a:custGeom>
            <a:avLst/>
            <a:gdLst/>
            <a:ahLst/>
            <a:cxnLst/>
            <a:rect r="r" b="b" t="t" l="l"/>
            <a:pathLst>
              <a:path h="622795" w="509913">
                <a:moveTo>
                  <a:pt x="0" y="0"/>
                </a:moveTo>
                <a:lnTo>
                  <a:pt x="509913" y="0"/>
                </a:lnTo>
                <a:lnTo>
                  <a:pt x="509913" y="622794"/>
                </a:lnTo>
                <a:lnTo>
                  <a:pt x="0" y="622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854669" y="6192021"/>
            <a:ext cx="842454" cy="793439"/>
          </a:xfrm>
          <a:custGeom>
            <a:avLst/>
            <a:gdLst/>
            <a:ahLst/>
            <a:cxnLst/>
            <a:rect r="r" b="b" t="t" l="l"/>
            <a:pathLst>
              <a:path h="793439" w="842454">
                <a:moveTo>
                  <a:pt x="0" y="0"/>
                </a:moveTo>
                <a:lnTo>
                  <a:pt x="842455" y="0"/>
                </a:lnTo>
                <a:lnTo>
                  <a:pt x="842455" y="793439"/>
                </a:lnTo>
                <a:lnTo>
                  <a:pt x="0" y="79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224" y="-8158430"/>
            <a:ext cx="12883553" cy="13686075"/>
            <a:chOff x="0" y="0"/>
            <a:chExt cx="17178070" cy="18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00937" y="3507712"/>
              <a:ext cx="14758837" cy="14740388"/>
            </a:xfrm>
            <a:custGeom>
              <a:avLst/>
              <a:gdLst/>
              <a:ahLst/>
              <a:cxnLst/>
              <a:rect r="r" b="b" t="t" l="l"/>
              <a:pathLst>
                <a:path h="14740388" w="14758837">
                  <a:moveTo>
                    <a:pt x="0" y="0"/>
                  </a:moveTo>
                  <a:lnTo>
                    <a:pt x="14758837" y="0"/>
                  </a:lnTo>
                  <a:lnTo>
                    <a:pt x="14758837" y="14740389"/>
                  </a:lnTo>
                  <a:lnTo>
                    <a:pt x="0" y="1474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17178070" cy="1717807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318296" y="1318296"/>
              <a:ext cx="14541478" cy="145414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205541" y="5406463"/>
            <a:ext cx="5693500" cy="2031589"/>
            <a:chOff x="0" y="0"/>
            <a:chExt cx="1043324" cy="372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3324" cy="372285"/>
            </a:xfrm>
            <a:custGeom>
              <a:avLst/>
              <a:gdLst/>
              <a:ahLst/>
              <a:cxnLst/>
              <a:rect r="r" b="b" t="t" l="l"/>
              <a:pathLst>
                <a:path h="372285" w="1043324">
                  <a:moveTo>
                    <a:pt x="67989" y="0"/>
                  </a:moveTo>
                  <a:lnTo>
                    <a:pt x="975335" y="0"/>
                  </a:lnTo>
                  <a:cubicBezTo>
                    <a:pt x="993367" y="0"/>
                    <a:pt x="1010660" y="7163"/>
                    <a:pt x="1023410" y="19914"/>
                  </a:cubicBezTo>
                  <a:cubicBezTo>
                    <a:pt x="1036161" y="32664"/>
                    <a:pt x="1043324" y="49957"/>
                    <a:pt x="1043324" y="67989"/>
                  </a:cubicBezTo>
                  <a:lnTo>
                    <a:pt x="1043324" y="304296"/>
                  </a:lnTo>
                  <a:cubicBezTo>
                    <a:pt x="1043324" y="341845"/>
                    <a:pt x="1012884" y="372285"/>
                    <a:pt x="975335" y="372285"/>
                  </a:cubicBezTo>
                  <a:lnTo>
                    <a:pt x="67989" y="372285"/>
                  </a:lnTo>
                  <a:cubicBezTo>
                    <a:pt x="30440" y="372285"/>
                    <a:pt x="0" y="341845"/>
                    <a:pt x="0" y="304296"/>
                  </a:cubicBezTo>
                  <a:lnTo>
                    <a:pt x="0" y="67989"/>
                  </a:lnTo>
                  <a:cubicBezTo>
                    <a:pt x="0" y="30440"/>
                    <a:pt x="30440" y="0"/>
                    <a:pt x="6798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43324" cy="410385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89823" y="6176648"/>
            <a:ext cx="3301230" cy="42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73"/>
              </a:lnSpc>
              <a:spcBef>
                <a:spcPct val="0"/>
              </a:spcBef>
            </a:pPr>
            <a:r>
              <a:rPr lang="en-US" sz="2409">
                <a:solidFill>
                  <a:srgbClr val="FFFFFF"/>
                </a:solidFill>
                <a:latin typeface="Poppins Bold"/>
              </a:rPr>
              <a:t>100 % Authentication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3694" y="5941529"/>
            <a:ext cx="1146839" cy="1145406"/>
          </a:xfrm>
          <a:custGeom>
            <a:avLst/>
            <a:gdLst/>
            <a:ahLst/>
            <a:cxnLst/>
            <a:rect r="r" b="b" t="t" l="l"/>
            <a:pathLst>
              <a:path h="1145406" w="1146839">
                <a:moveTo>
                  <a:pt x="0" y="0"/>
                </a:moveTo>
                <a:lnTo>
                  <a:pt x="1146839" y="0"/>
                </a:lnTo>
                <a:lnTo>
                  <a:pt x="1146839" y="1145405"/>
                </a:lnTo>
                <a:lnTo>
                  <a:pt x="0" y="1145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16956" y="5895692"/>
            <a:ext cx="1129949" cy="112994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14855" y="6134467"/>
            <a:ext cx="534151" cy="652399"/>
          </a:xfrm>
          <a:custGeom>
            <a:avLst/>
            <a:gdLst/>
            <a:ahLst/>
            <a:cxnLst/>
            <a:rect r="r" b="b" t="t" l="l"/>
            <a:pathLst>
              <a:path h="652399" w="534151">
                <a:moveTo>
                  <a:pt x="0" y="0"/>
                </a:moveTo>
                <a:lnTo>
                  <a:pt x="534151" y="0"/>
                </a:lnTo>
                <a:lnTo>
                  <a:pt x="534151" y="652399"/>
                </a:lnTo>
                <a:lnTo>
                  <a:pt x="0" y="6523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390800" y="5352235"/>
            <a:ext cx="5693500" cy="2031589"/>
            <a:chOff x="0" y="0"/>
            <a:chExt cx="1043324" cy="3722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3324" cy="372285"/>
            </a:xfrm>
            <a:custGeom>
              <a:avLst/>
              <a:gdLst/>
              <a:ahLst/>
              <a:cxnLst/>
              <a:rect r="r" b="b" t="t" l="l"/>
              <a:pathLst>
                <a:path h="372285" w="1043324">
                  <a:moveTo>
                    <a:pt x="67989" y="0"/>
                  </a:moveTo>
                  <a:lnTo>
                    <a:pt x="975335" y="0"/>
                  </a:lnTo>
                  <a:cubicBezTo>
                    <a:pt x="993367" y="0"/>
                    <a:pt x="1010660" y="7163"/>
                    <a:pt x="1023410" y="19914"/>
                  </a:cubicBezTo>
                  <a:cubicBezTo>
                    <a:pt x="1036161" y="32664"/>
                    <a:pt x="1043324" y="49957"/>
                    <a:pt x="1043324" y="67989"/>
                  </a:cubicBezTo>
                  <a:lnTo>
                    <a:pt x="1043324" y="304296"/>
                  </a:lnTo>
                  <a:cubicBezTo>
                    <a:pt x="1043324" y="341845"/>
                    <a:pt x="1012884" y="372285"/>
                    <a:pt x="975335" y="372285"/>
                  </a:cubicBezTo>
                  <a:lnTo>
                    <a:pt x="67989" y="372285"/>
                  </a:lnTo>
                  <a:cubicBezTo>
                    <a:pt x="30440" y="372285"/>
                    <a:pt x="0" y="341845"/>
                    <a:pt x="0" y="304296"/>
                  </a:cubicBezTo>
                  <a:lnTo>
                    <a:pt x="0" y="67989"/>
                  </a:lnTo>
                  <a:cubicBezTo>
                    <a:pt x="0" y="30440"/>
                    <a:pt x="30440" y="0"/>
                    <a:pt x="6798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43324" cy="410385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828953" y="5887301"/>
            <a:ext cx="1146839" cy="1145406"/>
          </a:xfrm>
          <a:custGeom>
            <a:avLst/>
            <a:gdLst/>
            <a:ahLst/>
            <a:cxnLst/>
            <a:rect r="r" b="b" t="t" l="l"/>
            <a:pathLst>
              <a:path h="1145406" w="1146839">
                <a:moveTo>
                  <a:pt x="0" y="0"/>
                </a:moveTo>
                <a:lnTo>
                  <a:pt x="1146839" y="0"/>
                </a:lnTo>
                <a:lnTo>
                  <a:pt x="1146839" y="1145406"/>
                </a:lnTo>
                <a:lnTo>
                  <a:pt x="0" y="1145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2802215" y="5841464"/>
            <a:ext cx="1129949" cy="112994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2978160" y="6070974"/>
            <a:ext cx="778059" cy="778059"/>
          </a:xfrm>
          <a:custGeom>
            <a:avLst/>
            <a:gdLst/>
            <a:ahLst/>
            <a:cxnLst/>
            <a:rect r="r" b="b" t="t" l="l"/>
            <a:pathLst>
              <a:path h="778059" w="778059">
                <a:moveTo>
                  <a:pt x="0" y="0"/>
                </a:moveTo>
                <a:lnTo>
                  <a:pt x="778059" y="0"/>
                </a:lnTo>
                <a:lnTo>
                  <a:pt x="778059" y="778059"/>
                </a:lnTo>
                <a:lnTo>
                  <a:pt x="0" y="778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247587" y="5951296"/>
            <a:ext cx="3301230" cy="8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73"/>
              </a:lnSpc>
              <a:spcBef>
                <a:spcPct val="0"/>
              </a:spcBef>
            </a:pPr>
            <a:r>
              <a:rPr lang="en-US" sz="2409">
                <a:solidFill>
                  <a:srgbClr val="FFFFFF"/>
                </a:solidFill>
                <a:latin typeface="Poppins Bold"/>
              </a:rPr>
              <a:t>Real time student monitoring system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297250" y="5406463"/>
            <a:ext cx="5693500" cy="2031589"/>
            <a:chOff x="0" y="0"/>
            <a:chExt cx="1043324" cy="3722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3324" cy="372285"/>
            </a:xfrm>
            <a:custGeom>
              <a:avLst/>
              <a:gdLst/>
              <a:ahLst/>
              <a:cxnLst/>
              <a:rect r="r" b="b" t="t" l="l"/>
              <a:pathLst>
                <a:path h="372285" w="1043324">
                  <a:moveTo>
                    <a:pt x="67989" y="0"/>
                  </a:moveTo>
                  <a:lnTo>
                    <a:pt x="975335" y="0"/>
                  </a:lnTo>
                  <a:cubicBezTo>
                    <a:pt x="993367" y="0"/>
                    <a:pt x="1010660" y="7163"/>
                    <a:pt x="1023410" y="19914"/>
                  </a:cubicBezTo>
                  <a:cubicBezTo>
                    <a:pt x="1036161" y="32664"/>
                    <a:pt x="1043324" y="49957"/>
                    <a:pt x="1043324" y="67989"/>
                  </a:cubicBezTo>
                  <a:lnTo>
                    <a:pt x="1043324" y="304296"/>
                  </a:lnTo>
                  <a:cubicBezTo>
                    <a:pt x="1043324" y="341845"/>
                    <a:pt x="1012884" y="372285"/>
                    <a:pt x="975335" y="372285"/>
                  </a:cubicBezTo>
                  <a:lnTo>
                    <a:pt x="67989" y="372285"/>
                  </a:lnTo>
                  <a:cubicBezTo>
                    <a:pt x="30440" y="372285"/>
                    <a:pt x="0" y="341845"/>
                    <a:pt x="0" y="304296"/>
                  </a:cubicBezTo>
                  <a:lnTo>
                    <a:pt x="0" y="67989"/>
                  </a:lnTo>
                  <a:cubicBezTo>
                    <a:pt x="0" y="30440"/>
                    <a:pt x="30440" y="0"/>
                    <a:pt x="6798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43324" cy="410385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180671" y="6002641"/>
            <a:ext cx="3301230" cy="78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093"/>
              </a:lnSpc>
              <a:spcBef>
                <a:spcPct val="0"/>
              </a:spcBef>
            </a:pPr>
            <a:r>
              <a:rPr lang="en-US" sz="2209">
                <a:solidFill>
                  <a:srgbClr val="FFFFFF"/>
                </a:solidFill>
                <a:latin typeface="Poppins Bold"/>
              </a:rPr>
              <a:t>Elimination of counterfeit ID cards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931767" y="5903120"/>
            <a:ext cx="1146839" cy="1145406"/>
          </a:xfrm>
          <a:custGeom>
            <a:avLst/>
            <a:gdLst/>
            <a:ahLst/>
            <a:cxnLst/>
            <a:rect r="r" b="b" t="t" l="l"/>
            <a:pathLst>
              <a:path h="1145406" w="1146839">
                <a:moveTo>
                  <a:pt x="0" y="0"/>
                </a:moveTo>
                <a:lnTo>
                  <a:pt x="1146839" y="0"/>
                </a:lnTo>
                <a:lnTo>
                  <a:pt x="1146839" y="1145405"/>
                </a:lnTo>
                <a:lnTo>
                  <a:pt x="0" y="1145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905029" y="5857283"/>
            <a:ext cx="1129949" cy="1129949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69469" y="7771427"/>
            <a:ext cx="5693500" cy="2031589"/>
            <a:chOff x="0" y="0"/>
            <a:chExt cx="1043324" cy="37228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3324" cy="372285"/>
            </a:xfrm>
            <a:custGeom>
              <a:avLst/>
              <a:gdLst/>
              <a:ahLst/>
              <a:cxnLst/>
              <a:rect r="r" b="b" t="t" l="l"/>
              <a:pathLst>
                <a:path h="372285" w="1043324">
                  <a:moveTo>
                    <a:pt x="67989" y="0"/>
                  </a:moveTo>
                  <a:lnTo>
                    <a:pt x="975335" y="0"/>
                  </a:lnTo>
                  <a:cubicBezTo>
                    <a:pt x="993367" y="0"/>
                    <a:pt x="1010660" y="7163"/>
                    <a:pt x="1023410" y="19914"/>
                  </a:cubicBezTo>
                  <a:cubicBezTo>
                    <a:pt x="1036161" y="32664"/>
                    <a:pt x="1043324" y="49957"/>
                    <a:pt x="1043324" y="67989"/>
                  </a:cubicBezTo>
                  <a:lnTo>
                    <a:pt x="1043324" y="304296"/>
                  </a:lnTo>
                  <a:cubicBezTo>
                    <a:pt x="1043324" y="341845"/>
                    <a:pt x="1012884" y="372285"/>
                    <a:pt x="975335" y="372285"/>
                  </a:cubicBezTo>
                  <a:lnTo>
                    <a:pt x="67989" y="372285"/>
                  </a:lnTo>
                  <a:cubicBezTo>
                    <a:pt x="30440" y="372285"/>
                    <a:pt x="0" y="341845"/>
                    <a:pt x="0" y="304296"/>
                  </a:cubicBezTo>
                  <a:lnTo>
                    <a:pt x="0" y="67989"/>
                  </a:lnTo>
                  <a:cubicBezTo>
                    <a:pt x="0" y="30440"/>
                    <a:pt x="30440" y="0"/>
                    <a:pt x="6798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43324" cy="410385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9807622" y="8306493"/>
            <a:ext cx="1146839" cy="1145406"/>
          </a:xfrm>
          <a:custGeom>
            <a:avLst/>
            <a:gdLst/>
            <a:ahLst/>
            <a:cxnLst/>
            <a:rect r="r" b="b" t="t" l="l"/>
            <a:pathLst>
              <a:path h="1145406" w="1146839">
                <a:moveTo>
                  <a:pt x="0" y="0"/>
                </a:moveTo>
                <a:lnTo>
                  <a:pt x="1146840" y="0"/>
                </a:lnTo>
                <a:lnTo>
                  <a:pt x="1146840" y="1145406"/>
                </a:lnTo>
                <a:lnTo>
                  <a:pt x="0" y="1145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790409" y="8260656"/>
            <a:ext cx="1129949" cy="1129949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7076681" y="5915576"/>
            <a:ext cx="777088" cy="904906"/>
          </a:xfrm>
          <a:custGeom>
            <a:avLst/>
            <a:gdLst/>
            <a:ahLst/>
            <a:cxnLst/>
            <a:rect r="r" b="b" t="t" l="l"/>
            <a:pathLst>
              <a:path h="904906" w="777088">
                <a:moveTo>
                  <a:pt x="0" y="0"/>
                </a:moveTo>
                <a:lnTo>
                  <a:pt x="777089" y="0"/>
                </a:lnTo>
                <a:lnTo>
                  <a:pt x="777089" y="904907"/>
                </a:lnTo>
                <a:lnTo>
                  <a:pt x="0" y="904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3275764" y="7771427"/>
            <a:ext cx="5693500" cy="2031589"/>
            <a:chOff x="0" y="0"/>
            <a:chExt cx="1043324" cy="3722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3324" cy="372285"/>
            </a:xfrm>
            <a:custGeom>
              <a:avLst/>
              <a:gdLst/>
              <a:ahLst/>
              <a:cxnLst/>
              <a:rect r="r" b="b" t="t" l="l"/>
              <a:pathLst>
                <a:path h="372285" w="1043324">
                  <a:moveTo>
                    <a:pt x="67989" y="0"/>
                  </a:moveTo>
                  <a:lnTo>
                    <a:pt x="975335" y="0"/>
                  </a:lnTo>
                  <a:cubicBezTo>
                    <a:pt x="993367" y="0"/>
                    <a:pt x="1010660" y="7163"/>
                    <a:pt x="1023410" y="19914"/>
                  </a:cubicBezTo>
                  <a:cubicBezTo>
                    <a:pt x="1036161" y="32664"/>
                    <a:pt x="1043324" y="49957"/>
                    <a:pt x="1043324" y="67989"/>
                  </a:cubicBezTo>
                  <a:lnTo>
                    <a:pt x="1043324" y="304296"/>
                  </a:lnTo>
                  <a:cubicBezTo>
                    <a:pt x="1043324" y="341845"/>
                    <a:pt x="1012884" y="372285"/>
                    <a:pt x="975335" y="372285"/>
                  </a:cubicBezTo>
                  <a:lnTo>
                    <a:pt x="67989" y="372285"/>
                  </a:lnTo>
                  <a:cubicBezTo>
                    <a:pt x="30440" y="372285"/>
                    <a:pt x="0" y="341845"/>
                    <a:pt x="0" y="304296"/>
                  </a:cubicBezTo>
                  <a:lnTo>
                    <a:pt x="0" y="67989"/>
                  </a:lnTo>
                  <a:cubicBezTo>
                    <a:pt x="0" y="30440"/>
                    <a:pt x="30440" y="0"/>
                    <a:pt x="6798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43324" cy="410385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3713917" y="8306493"/>
            <a:ext cx="1146839" cy="1145406"/>
          </a:xfrm>
          <a:custGeom>
            <a:avLst/>
            <a:gdLst/>
            <a:ahLst/>
            <a:cxnLst/>
            <a:rect r="r" b="b" t="t" l="l"/>
            <a:pathLst>
              <a:path h="1145406" w="1146839">
                <a:moveTo>
                  <a:pt x="0" y="0"/>
                </a:moveTo>
                <a:lnTo>
                  <a:pt x="1146840" y="0"/>
                </a:lnTo>
                <a:lnTo>
                  <a:pt x="1146840" y="1145406"/>
                </a:lnTo>
                <a:lnTo>
                  <a:pt x="0" y="1145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3687179" y="8260656"/>
            <a:ext cx="1129949" cy="1129949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2595" lIns="52595" bIns="52595" rIns="52595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3933658" y="8487593"/>
            <a:ext cx="636991" cy="733227"/>
          </a:xfrm>
          <a:custGeom>
            <a:avLst/>
            <a:gdLst/>
            <a:ahLst/>
            <a:cxnLst/>
            <a:rect r="r" b="b" t="t" l="l"/>
            <a:pathLst>
              <a:path h="733227" w="636991">
                <a:moveTo>
                  <a:pt x="0" y="0"/>
                </a:moveTo>
                <a:lnTo>
                  <a:pt x="636991" y="0"/>
                </a:lnTo>
                <a:lnTo>
                  <a:pt x="636991" y="733226"/>
                </a:lnTo>
                <a:lnTo>
                  <a:pt x="0" y="7332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5260047" y="8541612"/>
            <a:ext cx="3301230" cy="42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73"/>
              </a:lnSpc>
              <a:spcBef>
                <a:spcPct val="0"/>
              </a:spcBef>
            </a:pPr>
            <a:r>
              <a:rPr lang="en-US" sz="2409">
                <a:solidFill>
                  <a:srgbClr val="FFFFFF"/>
                </a:solidFill>
                <a:latin typeface="Poppins Bold"/>
              </a:rPr>
              <a:t>Secure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9987739" y="8405819"/>
            <a:ext cx="735289" cy="827329"/>
          </a:xfrm>
          <a:custGeom>
            <a:avLst/>
            <a:gdLst/>
            <a:ahLst/>
            <a:cxnLst/>
            <a:rect r="r" b="b" t="t" l="l"/>
            <a:pathLst>
              <a:path h="827329" w="735289">
                <a:moveTo>
                  <a:pt x="0" y="0"/>
                </a:moveTo>
                <a:lnTo>
                  <a:pt x="735289" y="0"/>
                </a:lnTo>
                <a:lnTo>
                  <a:pt x="735289" y="827329"/>
                </a:lnTo>
                <a:lnTo>
                  <a:pt x="0" y="8273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1353752" y="8389538"/>
            <a:ext cx="3301230" cy="8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73"/>
              </a:lnSpc>
              <a:spcBef>
                <a:spcPct val="0"/>
              </a:spcBef>
            </a:pPr>
            <a:r>
              <a:rPr lang="en-US" sz="2409">
                <a:solidFill>
                  <a:srgbClr val="FFFFFF"/>
                </a:solidFill>
                <a:latin typeface="Poppins Bold"/>
              </a:rPr>
              <a:t>Improving campus experience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108438" y="570887"/>
            <a:ext cx="8071124" cy="16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>
                <a:solidFill>
                  <a:srgbClr val="1F2020"/>
                </a:solidFill>
                <a:latin typeface="Poppins Bold"/>
              </a:rPr>
              <a:t>ADVANTAGES OF OUR SOLUTION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03567" y="8207364"/>
            <a:ext cx="388405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P. RAM SAKETH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36150" y="8207364"/>
            <a:ext cx="235624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 Bold"/>
              </a:rPr>
              <a:t>J. KAMAL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55127" y="7126283"/>
            <a:ext cx="4771458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Canva Sans Bold"/>
              </a:rPr>
              <a:t>FINAL YEAR IT-C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90990" y="4081929"/>
            <a:ext cx="391537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DAGD5quBzJc</dc:identifier>
  <dcterms:modified xsi:type="dcterms:W3CDTF">2011-08-01T06:04:30Z</dcterms:modified>
  <cp:revision>1</cp:revision>
  <dc:title>Flex pay mail pitch</dc:title>
</cp:coreProperties>
</file>